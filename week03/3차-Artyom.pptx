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B1D66D-00F4-4DDA-A0A5-0191A69C6D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EF7F9A2-0E02-42B1-A396-D951819AC8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54278E-608C-4865-AA3F-86131FC7BB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0B2A7D-B58F-4CF5-AED3-F92E4A1A04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262CBDA-BD74-4FC1-B81D-1BE8C8FEF2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323BA8-F0C2-42F7-AD9A-D77366985A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8177048-80BA-4479-9EBF-BC94FC55C7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D77AD56-3BA3-472F-AFF9-2F573E5BF0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507E27C-9F23-4EBA-9A4A-26E84D6AEA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BD5E93-A492-4AF3-A8F0-37CEDC4970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43F6C92-A984-4607-AB98-BF773F5B73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0320" cy="16308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2880360"/>
            <a:ext cx="12190320" cy="1692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554480"/>
            <a:ext cx="106970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JAVA Report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</a:t>
            </a:r>
            <a:r>
              <a:rPr lang="ko-KR" sz="32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데이터</a:t>
            </a:r>
            <a:r>
              <a:rPr lang="en-US" sz="32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244040" y="3200400"/>
            <a:ext cx="367164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ko-KR" sz="22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경복대학교  소프트웨어융합과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3</a:t>
            </a:r>
            <a:r>
              <a:rPr lang="ko-KR" sz="20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차 과제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Artyom   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학번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- 202625388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502920" y="164520"/>
            <a:ext cx="1115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0-1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Table 6"/>
          <p:cNvGraphicFramePr/>
          <p:nvPr/>
        </p:nvGraphicFramePr>
        <p:xfrm>
          <a:off x="1203120" y="3145320"/>
          <a:ext cx="923508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377440"/>
              </a:tblGrid>
              <a:tr h="640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10</a:t>
                      </a: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진수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16</a:t>
                      </a: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진수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8</a:t>
                      </a: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진수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2</a:t>
                      </a: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진수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40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B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1011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40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21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10001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40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26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1A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32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11010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40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65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41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101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1000001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69" name="TextBox 1"/>
          <p:cNvSpPr/>
          <p:nvPr/>
        </p:nvSpPr>
        <p:spPr>
          <a:xfrm>
            <a:off x="549000" y="1280520"/>
            <a:ext cx="1106280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1011₂ = 1×8 + 0×4 + 1×2 + 1×1 = 11₁₀ = B₁₆ = 13₈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17₁₀ = 16+1 → 11₁₆    2×8+1 → 21₈    10001₂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1A₁₆ = 1×16 + 10 = 26₁₀ = 32₈ = 11010₂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101₈ = 1×64 + 0×8 + 1 = 65₁₀ = 41₁₆ = 1000001₂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02920" y="164520"/>
            <a:ext cx="1115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0-2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Table 6"/>
          <p:cNvGraphicFramePr/>
          <p:nvPr/>
        </p:nvGraphicFramePr>
        <p:xfrm>
          <a:off x="1005840" y="2560320"/>
          <a:ext cx="10149480" cy="3382200"/>
        </p:xfrm>
        <a:graphic>
          <a:graphicData uri="http://schemas.openxmlformats.org/drawingml/2006/table">
            <a:tbl>
              <a:tblPr/>
              <a:tblGrid>
                <a:gridCol w="1828800"/>
                <a:gridCol w="2057400"/>
                <a:gridCol w="2057400"/>
                <a:gridCol w="2103120"/>
                <a:gridCol w="2103120"/>
              </a:tblGrid>
              <a:tr h="676440"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1 byte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2 byte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4 byte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8 byte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764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논리형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boolean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764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문자형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char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764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정수형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byte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short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int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long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764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실수형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float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double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0-3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548640" y="1051560"/>
            <a:ext cx="110628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아래 그림의 컴퓨터 주문 내용을 처리하는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JAVA Program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개발하기 위한 변수 선언을 하세요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8" name="Table 6"/>
          <p:cNvGraphicFramePr/>
          <p:nvPr/>
        </p:nvGraphicFramePr>
        <p:xfrm>
          <a:off x="1645920" y="1783080"/>
          <a:ext cx="8869320" cy="402192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3017520"/>
              </a:tblGrid>
              <a:tr h="6703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입력 자료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변수명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예시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703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주문자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Name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홍길동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703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모니터</a:t>
                      </a: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(cm)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Moni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60.96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703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CPU</a:t>
                      </a: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클럭</a:t>
                      </a: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(GHz)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Clk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2.8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703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하드디스크</a:t>
                      </a:r>
                      <a:r>
                        <a:rPr lang="en-US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(GB)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Hdd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500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  <a:tr h="6703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기타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Etc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ko-KR" sz="16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Noto Sans CJK KR"/>
                          <a:ea typeface="Noto Sans CJK KR"/>
                        </a:rPr>
                        <a:t>방문설치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502920" y="164520"/>
            <a:ext cx="1115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0-3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6"/>
          <p:cNvSpPr/>
          <p:nvPr/>
        </p:nvSpPr>
        <p:spPr>
          <a:xfrm>
            <a:off x="502920" y="2194560"/>
            <a:ext cx="11154240" cy="356472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667440" y="2304360"/>
            <a:ext cx="10879920" cy="33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String Name;     // </a:t>
            </a:r>
            <a:r>
              <a:rPr lang="ko-KR" sz="20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홍길동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double Moni;     // 60.96  cm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double Clk;      // 2.8    GHz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int Hdd;         // 500    GB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String Etc;      // </a:t>
            </a:r>
            <a:r>
              <a:rPr lang="ko-KR" sz="20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방문설치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548640" y="1188720"/>
            <a:ext cx="11062800" cy="51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Keyboard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로부터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2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개의 양의 정수를 받아서 더하는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Program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작성하여라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실행 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첫번째 숫자를 입력하세요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두번째 숫자를 입력하세요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5 + 6 = 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이론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548640" y="1188720"/>
            <a:ext cx="11062800" cy="51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Keyboard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에서 두 수를 읽어 더한 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과제 예시와 같은 형식으로 출력한다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ko-KR" sz="20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 분석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입력    두 개의 양의 정수 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int,  Scanner.nextInt()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연산  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first + second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출력  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printf("%d + %d = %d\n", first, second, first + second)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Scanner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java.util.Scanner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System.in(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키보드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)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읽는다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과제는 실행 예만 주었기 때문에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양의 정수 범위 검사는 하지 않았다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(Report1.java)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502920" y="1051560"/>
            <a:ext cx="11154240" cy="53478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667440" y="1161360"/>
            <a:ext cx="10879920" cy="51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import java.util.Scanner;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Scanner keyboard = new Scanner(System.in);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first;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second;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첫번째 숫자를 입력하세요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first = keyboard.nextInt();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두번째 숫자를 입력하세요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second = keyboard.nextInt();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System.out.printf("%d + %d = %d\n", first, second, first + second);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keyboard.close();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1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5" descr="report1.png"/>
          <p:cNvPicPr/>
          <p:nvPr/>
        </p:nvPicPr>
        <p:blipFill>
          <a:blip r:embed="rId1"/>
          <a:stretch/>
        </p:blipFill>
        <p:spPr>
          <a:xfrm>
            <a:off x="1463040" y="1463040"/>
            <a:ext cx="8593920" cy="157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548640" y="1051560"/>
            <a:ext cx="110628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아래와 같은 내용을 출력하는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Program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작성하시오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데이터는 과제 예시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홍 길동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) 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대신 내 정보를 넣었다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502920" y="2148840"/>
            <a:ext cx="11154240" cy="370188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667440" y="2258640"/>
            <a:ext cx="10879920" cy="35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*********************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학교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경복대학교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이름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Artyom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나이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성별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신장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192.0 Cm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체중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76.0 Kg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*********************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6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7"/>
          <p:cNvSpPr/>
          <p:nvPr/>
        </p:nvSpPr>
        <p:spPr>
          <a:xfrm>
            <a:off x="0" y="841320"/>
            <a:ext cx="12190680" cy="126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502920" y="164520"/>
            <a:ext cx="2569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이론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502920" y="1005840"/>
            <a:ext cx="11154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ko-KR" sz="18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출력은 같다</a:t>
            </a:r>
            <a:r>
              <a:rPr lang="en-US" sz="18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8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데이터를 넣는 방법만 네 가지다</a:t>
            </a:r>
            <a:r>
              <a:rPr lang="en-US" sz="18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1"/>
          <p:cNvSpPr/>
          <p:nvPr/>
        </p:nvSpPr>
        <p:spPr>
          <a:xfrm>
            <a:off x="502920" y="1554480"/>
            <a:ext cx="2664360" cy="1964880"/>
          </a:xfrm>
          <a:prstGeom prst="rect">
            <a:avLst/>
          </a:prstGeom>
          <a:solidFill>
            <a:srgbClr val="E8F1FB"/>
          </a:solidFill>
          <a:ln>
            <a:solidFill>
              <a:srgbClr val="2E75B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612720" y="1664280"/>
            <a:ext cx="24451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1. </a:t>
            </a:r>
            <a:r>
              <a:rPr lang="ko-KR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리터럴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ko-KR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이름 없음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println("Artyom")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3"/>
          <p:cNvSpPr/>
          <p:nvPr/>
        </p:nvSpPr>
        <p:spPr>
          <a:xfrm>
            <a:off x="3332880" y="1554480"/>
            <a:ext cx="2664360" cy="1964880"/>
          </a:xfrm>
          <a:prstGeom prst="rect">
            <a:avLst/>
          </a:prstGeom>
          <a:solidFill>
            <a:srgbClr val="E8F1FB"/>
          </a:solidFill>
          <a:ln>
            <a:solidFill>
              <a:srgbClr val="2E75B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4"/>
          <p:cNvSpPr/>
          <p:nvPr/>
        </p:nvSpPr>
        <p:spPr>
          <a:xfrm>
            <a:off x="3442680" y="1664280"/>
            <a:ext cx="2445120" cy="12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2. </a:t>
            </a:r>
            <a:r>
              <a:rPr lang="ko-KR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상수 </a:t>
            </a:r>
            <a:r>
              <a:rPr lang="en-US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final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ko-KR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이름 있음</a:t>
            </a: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못 바꿈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final String name = "Artyom"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5"/>
          <p:cNvSpPr/>
          <p:nvPr/>
        </p:nvSpPr>
        <p:spPr>
          <a:xfrm>
            <a:off x="6163200" y="1554480"/>
            <a:ext cx="2664360" cy="1964880"/>
          </a:xfrm>
          <a:prstGeom prst="rect">
            <a:avLst/>
          </a:prstGeom>
          <a:solidFill>
            <a:srgbClr val="E8F1FB"/>
          </a:solidFill>
          <a:ln>
            <a:solidFill>
              <a:srgbClr val="2E75B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6"/>
          <p:cNvSpPr/>
          <p:nvPr/>
        </p:nvSpPr>
        <p:spPr>
          <a:xfrm>
            <a:off x="6272640" y="1664280"/>
            <a:ext cx="244512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3. </a:t>
            </a:r>
            <a:r>
              <a:rPr lang="ko-KR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변수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ko-KR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이름 있음</a:t>
            </a: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바꿀 수 있음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String name = "Artyom"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7"/>
          <p:cNvSpPr/>
          <p:nvPr/>
        </p:nvSpPr>
        <p:spPr>
          <a:xfrm>
            <a:off x="8993160" y="1554480"/>
            <a:ext cx="2664360" cy="1964880"/>
          </a:xfrm>
          <a:prstGeom prst="rect">
            <a:avLst/>
          </a:prstGeom>
          <a:solidFill>
            <a:srgbClr val="E8F1FB"/>
          </a:solidFill>
          <a:ln>
            <a:solidFill>
              <a:srgbClr val="2E75B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8"/>
          <p:cNvSpPr/>
          <p:nvPr/>
        </p:nvSpPr>
        <p:spPr>
          <a:xfrm>
            <a:off x="9102960" y="1664280"/>
            <a:ext cx="244512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4. </a:t>
            </a:r>
            <a:r>
              <a:rPr lang="ko-KR" sz="16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외부 입력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ko-KR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실행할 때 키보드로 받음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name = keyboard.nextLine()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9"/>
          <p:cNvSpPr/>
          <p:nvPr/>
        </p:nvSpPr>
        <p:spPr>
          <a:xfrm>
            <a:off x="502920" y="3749040"/>
            <a:ext cx="11154600" cy="7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학교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이름 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String     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나이 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int     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성별 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char     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신장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체중 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= float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float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로 하려면 리터럴 뒤에 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를 붙인다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 192.0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은 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double,  192.0f</a:t>
            </a:r>
            <a:r>
              <a:rPr lang="ko-KR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1600" b="1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float.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2-a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·  Data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개념 없이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5"/>
          <p:cNvSpPr/>
          <p:nvPr/>
        </p:nvSpPr>
        <p:spPr>
          <a:xfrm>
            <a:off x="502920" y="1051560"/>
            <a:ext cx="11154240" cy="53478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667440" y="1161360"/>
            <a:ext cx="10879920" cy="51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 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학교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경복대학교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 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이름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Artyom");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 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나이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24");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 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성별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M");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 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신장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192.0 Cm");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  </a:t>
            </a:r>
            <a:r>
              <a:rPr lang="ko-KR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체중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76.0 Kg");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2-a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5" descr="report2a.png"/>
          <p:cNvPicPr/>
          <p:nvPr/>
        </p:nvPicPr>
        <p:blipFill>
          <a:blip r:embed="rId1"/>
          <a:stretch/>
        </p:blipFill>
        <p:spPr>
          <a:xfrm>
            <a:off x="1463040" y="1234440"/>
            <a:ext cx="8411040" cy="284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2-b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·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상수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Data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5"/>
          <p:cNvSpPr/>
          <p:nvPr/>
        </p:nvSpPr>
        <p:spPr>
          <a:xfrm>
            <a:off x="502920" y="1051560"/>
            <a:ext cx="11154240" cy="53478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667440" y="1161360"/>
            <a:ext cx="10879920" cy="51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final String school = "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경복대학교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";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final String name = "Artyom";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final int age = 24;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final char gender = 'M';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final float height = 192.0f;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final float weight = 76.0f;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학교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%s\n", school);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이름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%s\n", name);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나이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%d\n", age);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성별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%c\n", gender);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신장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%.1f Cm\n", height);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체중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%.1f Kg\n", weight);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2-b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5" descr="report2b.png"/>
          <p:cNvPicPr/>
          <p:nvPr/>
        </p:nvPicPr>
        <p:blipFill>
          <a:blip r:embed="rId1"/>
          <a:stretch/>
        </p:blipFill>
        <p:spPr>
          <a:xfrm>
            <a:off x="1463040" y="1234440"/>
            <a:ext cx="8411040" cy="284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2-c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·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변수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502920" y="1051560"/>
            <a:ext cx="11154240" cy="53478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667440" y="1161360"/>
            <a:ext cx="10879920" cy="51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String school = "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경복대학교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";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String name = "Artyom";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age = 24;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char gender = 'M';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float height = 192.0f;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float weight = 76.0f;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학교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%s\n", school);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이름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%s\n", name);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나이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%d\n", age);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성별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%c\n", gender);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신장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%.1f Cm\n", height);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체중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%.1f Kg\n", weight);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2-c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5" descr="report2c.png"/>
          <p:cNvPicPr/>
          <p:nvPr/>
        </p:nvPicPr>
        <p:blipFill>
          <a:blip r:embed="rId1"/>
          <a:stretch/>
        </p:blipFill>
        <p:spPr>
          <a:xfrm>
            <a:off x="1463040" y="1234440"/>
            <a:ext cx="8411040" cy="284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2-d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·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외부 입력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5"/>
          <p:cNvSpPr/>
          <p:nvPr/>
        </p:nvSpPr>
        <p:spPr>
          <a:xfrm>
            <a:off x="502920" y="987480"/>
            <a:ext cx="11154240" cy="548496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667440" y="1097280"/>
            <a:ext cx="10879920" cy="53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import java.util.Scanner;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Scanner keyboard = new Scanner(System.in);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String school;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String name;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int age;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char gender;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float height;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float weight;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학교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school = keyboard.nextLine();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이름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name = keyboard.nextLine();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나이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age = keyboard.nextInt();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성별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gender = keyboard.next().charAt(0);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신장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height = keyboard.nextFloat();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체중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");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weight = keyboard.nextFloat();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5686200" y="1114920"/>
            <a:ext cx="5514480" cy="27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학교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%s\n", school);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이름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%s\n", name);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나이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%d\n", age);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성별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%c\n", gender);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신장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%.1f Cm\n", height);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  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체중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: %.1f Kg\n", weight);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System.out.println("*********************");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keyboard.close();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2-d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5" descr="report2d.png"/>
          <p:cNvPicPr/>
          <p:nvPr/>
        </p:nvPicPr>
        <p:blipFill>
          <a:blip r:embed="rId1"/>
          <a:stretch/>
        </p:blipFill>
        <p:spPr>
          <a:xfrm>
            <a:off x="1463040" y="1051560"/>
            <a:ext cx="7862400" cy="411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6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7"/>
          <p:cNvSpPr/>
          <p:nvPr/>
        </p:nvSpPr>
        <p:spPr>
          <a:xfrm>
            <a:off x="0" y="841320"/>
            <a:ext cx="12190680" cy="126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502920" y="164520"/>
            <a:ext cx="11154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3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502920" y="1234440"/>
            <a:ext cx="11154600" cy="49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섭씨 온도를 입력 받아 화씨 온도로 변환하여 출력하는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Program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을 작성하여라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ko-KR" sz="20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문제 분석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입력    섭씨 온도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(℃) — double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출력    화씨 온도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(℉) — double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공식   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 = C * 9 / 5 + 32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C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가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이면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9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5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도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 된다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9 / 5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만 먼저 쓰면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int 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나눗셈이라 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</a:t>
            </a: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 되고 화씨가 틀린다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검산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 0℃ = 32℉,   25℃ = 77℉,   100℃ = 212℉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3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소스  </a:t>
            </a: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(Report3.java)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502920" y="1051560"/>
            <a:ext cx="11154240" cy="53478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667440" y="1161360"/>
            <a:ext cx="10879920" cy="51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import java.util.Scanner;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void main()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Scanner keyboard = new Scanner(System.in);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double celsius;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double fahrenheit;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System.out.print("</a:t>
            </a:r>
            <a:r>
              <a:rPr lang="ko-KR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섭씨 온도를 입력하세요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");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celsius = keyboard.nextDouble();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fahrenheit = celsius * 9 / 5 + 32;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System.out.printf("%.1f℃ = %.1f℉\n", celsius, fahrenheit);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    keyboard.close();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Noto Sans Mono CJK KR"/>
                <a:ea typeface="Noto Sans Mono CJK KR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Report 3  </a:t>
            </a:r>
            <a:r>
              <a:rPr lang="ko-KR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실행 결과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5" descr="report3.png"/>
          <p:cNvPicPr/>
          <p:nvPr/>
        </p:nvPicPr>
        <p:blipFill>
          <a:blip r:embed="rId1"/>
          <a:stretch/>
        </p:blipFill>
        <p:spPr>
          <a:xfrm>
            <a:off x="1463040" y="1097280"/>
            <a:ext cx="8228160" cy="27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6"/>
          <p:cNvSpPr/>
          <p:nvPr/>
        </p:nvSpPr>
        <p:spPr>
          <a:xfrm>
            <a:off x="502920" y="3999960"/>
            <a:ext cx="11154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ko-KR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검산</a:t>
            </a: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 0℃ = 32℉,   25℃ = 77℉,   100℃ = 212℉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0320" cy="7164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0" y="841320"/>
            <a:ext cx="12190320" cy="12240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502920" y="164520"/>
            <a:ext cx="111542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2800" b="1" u="none" strike="noStrike">
                <a:solidFill>
                  <a:srgbClr val="003399"/>
                </a:solidFill>
                <a:effectLst/>
                <a:uFillTx/>
                <a:latin typeface="Noto Sans CJK KR"/>
                <a:ea typeface="Noto Sans CJK KR"/>
              </a:rPr>
              <a:t>느낀 점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548640" y="1188720"/>
            <a:ext cx="11062800" cy="51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같은 학생 정보를 리터럴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상수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변수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키보드 입력 네 가지로 출력해 보니 데이터가 어디에 사는지가 분명해졌다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화면은 같은데 프로그램 구조만 바뀐다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float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192.0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처럼 쓰면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double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이라서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과제에서 물은 대로 뒤에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f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를 붙였다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192.0f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가 아니면 컴파일이 안 된다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섭씨 변환은 공식보다 나눗셈 순서가 더 중요했다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9 / 5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를 먼저 계산하면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int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라서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1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이 되고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화씨가 완전히 틀린다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건의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소스 파일이 길면 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PPT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에 두 칸으로 나눠야 해서 읽기가 조금 불편하다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짧은 프로그램은 한 슬라이드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긴 프로그램은 첨부 파일로 내는 편이 나을 것 같다</a:t>
            </a: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2026-10-01T22:50:39Z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